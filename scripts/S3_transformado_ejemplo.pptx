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75" r:id="rId29"/>
    <p:sldId id="276" r:id="rId28"/>
    <p:sldId id="277" r:id="rId27"/>
    <p:sldId id="278" r:id="rId26"/>
    <p:sldId id="279" r:id="rId38"/>
    <p:sldId id="280" r:id="rId39"/>
    <p:sldId id="281" r:id="rId40"/>
    <p:sldId id="282" r:id="rId41"/>
    <p:sldId id="283" r:id="rId42"/>
    <p:sldId id="284" r:id="rId43"/>
    <p:sldId id="285" r:id="rId44"/>
  </p:sldIdLst>
  <p:sldSz cx="12192000" cy="6858000"/>
  <p:notesSz cx="6858000" cy="9144000"/>
  <p:embeddedFontLst>
    <p:embeddedFont>
      <p:font typeface="Helvetica Neue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1B0l/NcLuNYF+lygO1rguOBnO7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oelia Escalona" initials="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B63A0-1424-4C81-A23D-A1F1EA48D83F}" v="2" dt="2026-05-06T14:05:47.839"/>
  </p1510:revLst>
</p1510:revInfo>
</file>

<file path=ppt/tableStyles.xml><?xml version="1.0" encoding="utf-8"?>
<a:tblStyleLst xmlns:a="http://schemas.openxmlformats.org/drawingml/2006/main" def="{1DD58804-E34B-4606-BDAD-0719976CB149}">
  <a:tblStyle styleId="{1DD58804-E34B-4606-BDAD-0719976CB1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slide" Target="slides/slide23.xml"/><Relationship Id="rId27" Type="http://schemas.openxmlformats.org/officeDocument/2006/relationships/slide" Target="slides/slide22.xml"/><Relationship Id="rId28" Type="http://schemas.openxmlformats.org/officeDocument/2006/relationships/slide" Target="slides/slide21.xml"/><Relationship Id="rId29" Type="http://schemas.openxmlformats.org/officeDocument/2006/relationships/slide" Target="slides/slide20.xml"/><Relationship Id="rId30" Type="http://customschemas.google.com/relationships/presentationmetadata" Target="meta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elia Escalona" userId="2bc66cf79a45aaf0" providerId="LiveId" clId="{422816D8-FD21-4FA1-A594-E6EB3FCBA174}"/>
    <pc:docChg chg="modSld">
      <pc:chgData name="Noelia Escalona" userId="2bc66cf79a45aaf0" providerId="LiveId" clId="{422816D8-FD21-4FA1-A594-E6EB3FCBA174}" dt="2026-05-06T14:05:47.839" v="1"/>
      <pc:docMkLst>
        <pc:docMk/>
      </pc:docMkLst>
      <pc:sldChg chg="modNotes">
        <pc:chgData name="Noelia Escalona" userId="2bc66cf79a45aaf0" providerId="LiveId" clId="{422816D8-FD21-4FA1-A594-E6EB3FCBA174}" dt="2026-05-06T14:05:47.796" v="0"/>
        <pc:sldMkLst>
          <pc:docMk/>
          <pc:sldMk cId="0" sldId="270"/>
        </pc:sldMkLst>
      </pc:sldChg>
      <pc:sldChg chg="modNotes">
        <pc:chgData name="Noelia Escalona" userId="2bc66cf79a45aaf0" providerId="LiveId" clId="{422816D8-FD21-4FA1-A594-E6EB3FCBA174}" dt="2026-05-06T14:05:47.839" v="1"/>
        <pc:sldMkLst>
          <pc:docMk/>
          <pc:sldMk cId="0" sldId="271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2C-4E49-A48C-B0B9FF6F3FC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2C-4E49-A48C-B0B9FF6F3FC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6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2C-4E49-A48C-B0B9FF6F3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6574856"/>
        <c:axId val="316571720"/>
      </c:barChart>
      <c:catAx>
        <c:axId val="316574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316571720"/>
        <c:crosses val="autoZero"/>
        <c:auto val="1"/>
        <c:lblAlgn val="ctr"/>
        <c:lblOffset val="100"/>
        <c:noMultiLvlLbl val="0"/>
      </c:catAx>
      <c:valAx>
        <c:axId val="316571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316574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solidFill>
                <a:schemeClr val="accent6">
                  <a:shade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shade val="65000"/>
                </a:schemeClr>
              </a:solidFill>
              <a:ln w="9525">
                <a:solidFill>
                  <a:schemeClr val="accent6">
                    <a:shade val="65000"/>
                  </a:schemeClr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73-43AF-9C04-764DA714599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73-43AF-9C04-764DA7145992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ln w="28575" cap="rnd">
              <a:solidFill>
                <a:schemeClr val="accent6">
                  <a:tint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tint val="65000"/>
                </a:schemeClr>
              </a:solidFill>
              <a:ln w="9525">
                <a:solidFill>
                  <a:schemeClr val="accent6">
                    <a:tint val="65000"/>
                  </a:schemeClr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73-43AF-9C04-764DA71459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9156792"/>
        <c:axId val="589158752"/>
      </c:lineChart>
      <c:catAx>
        <c:axId val="589156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89158752"/>
        <c:crosses val="autoZero"/>
        <c:auto val="1"/>
        <c:lblAlgn val="ctr"/>
        <c:lblOffset val="100"/>
        <c:noMultiLvlLbl val="0"/>
      </c:catAx>
      <c:valAx>
        <c:axId val="58915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89156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16:30.408" idx="1">
    <p:pos x="0" y="0"/>
    <p:text>Diapositiva 1 — Portada
Completar: título del recurso, nombre del docente y facultad.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Y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0:06.307" idx="2">
    <p:pos x="6000" y="0"/>
    <p:text>Diapositiva 2 — Índice de contenidos (obligatoria)
Listar los temas que se abordarán en la clase. La plantilla contempla hasta 3 temas con un subtexto descriptivo para cada uno.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g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0:42.861" idx="3">
    <p:pos x="0" y="0"/>
    <p:text>Diapositiva 3 — Portada de tema (obligatoria, repetir por cada bloque temático)
Usar como separador entre temas. Completar con el título del tema correspondiente.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k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1:03.269" idx="4">
    <p:pos x="6000" y="0"/>
    <p:text>Diapositivas 4 a 9 — Layouts de contenido (opcionales, elegir los que apliquen)
Cada diapositiva ofrece un formato distinto para presentar la información: ítems con íconos, listas con texto, columnas dobles. Seleccionar el layout más adecuado según el tipo de contenido, repetirlo si es necesario y eliminar los que no se utilicen.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o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1:15.139" idx="5">
    <p:pos x="6000" y="0"/>
    <p:text>Diapositivas 4 a 9 — Layouts de contenido (opcionales, elegir los que apliquen)
Cada diapositiva ofrece un formato distinto para presentar la información: ítems con íconos, listas con texto, columnas dobles. Seleccionar el layout más adecuado según el tipo de contenido, repetirlo si es necesario y eliminar los que no se utilicen.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s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1:22.996" idx="6">
    <p:pos x="6000" y="0"/>
    <p:text>Diapositivas 4 a 9 — Layouts de contenido (opcionales, elegir los que apliquen)
Cada diapositiva ofrece un formato distinto para presentar la información: ítems con íconos, listas con texto, columnas dobles. Seleccionar el layout más adecuado según el tipo de contenido, repetirlo si es necesario y eliminar los que no se utilicen.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w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1:29.228" idx="7">
    <p:pos x="6000" y="0"/>
    <p:text>Diapositivas 4 a 9 — Layouts de contenido (opcionales, elegir los que apliquen)
Cada diapositiva ofrece un formato distinto para presentar la información: ítems con íconos, listas con texto, columnas dobles. Seleccionar el layout más adecuado según el tipo de contenido, repetirlo si es necesario y eliminar los que no se utilicen.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1:37.987" idx="8">
    <p:pos x="6000" y="0"/>
    <p:text>Diapositivas 4 a 9 — Layouts de contenido (opcionales, elegir los que apliquen)
Cada diapositiva ofrece un formato distinto para presentar la información: ítems con íconos, listas con texto, columnas dobles. Seleccionar el layout más adecuado según el tipo de contenido, repetirlo si es necesario y eliminar los que no se utilicen.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4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1:45.193" idx="9">
    <p:pos x="6000" y="0"/>
    <p:text>Diapositivas 4 a 9 — Layouts de contenido (opcionales, elegir los que apliquen)
Cada diapositiva ofrece un formato distinto para presentar la información: ítems con íconos, listas con texto, columnas dobles. Seleccionar el layout más adecuado según el tipo de contenido, repetirlo si es necesario y eliminar los que no se utilicen.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J8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2:04.962" idx="10">
    <p:pos x="6000" y="0"/>
    <p:text>Diapositiva 10 — Tabla (opcional)
Para contenido que requiera formato tabular. Reemplazar los datos de ejemplo e incluir la fuente si corresponde.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KA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2:18.481" idx="11">
    <p:pos x="6000" y="0"/>
    <p:text>Diapositivas 11 y 12 — Listado numerado (opcional)
Para secuencias, pasos o elementos enumerados. Contempla hasta 4 ítems.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KE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2:26.401" idx="12">
    <p:pos x="6000" y="0"/>
    <p:text>Diapositivas 11 y 12 — Listado numerado (opcional)
Para secuencias, pasos o elementos enumerados. Contempla hasta 4 ítems.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KI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2:42.938" idx="13">
    <p:pos x="6000" y="0"/>
    <p:text>Diapositiva 13 — Proceso o flujo (opcional)
Para mostrar etapas o pasos en secuencia. Contempla hasta 5 pasos.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TKbKM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2:53.545" idx="14">
    <p:pos x="6000" y="0"/>
    <p:text>Diapositiva 14 — Línea de tiempo (opcional)
Para contenido cronológico. Completar con años e hitos relevantes.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YI2b4"/>
      </p:ext>
    </p:extLs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3:04.272" idx="15">
    <p:pos x="6000" y="0"/>
    <p:text>Diapositivas 15 y 16 — Gráficos (opcionales)
Para datos cuantitativos. Reemplazar los datos de ejemplo por los reales y agregar texto de análisis o contexto.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YI2b8"/>
      </p:ext>
    </p:extLs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3:13.263" idx="16">
    <p:pos x="6000" y="0"/>
    <p:text>Diapositivas 15 y 16 — Gráficos (opcionales)
Para datos cuantitativos. Reemplazar los datos de ejemplo por los reales y agregar texto de análisis o contexto.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YI2cA"/>
      </p:ext>
    </p:extLs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3:27.816" idx="17">
    <p:pos x="-27" y="0"/>
    <p:text>Diapositiva 17 — Conclusión (obligatoria)
Sintetizar las ideas fuerza de la clase. Se recomiendan entre 2 y 3 puntos clave.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YI2cE"/>
      </p:ext>
    </p:extLs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4:20.055" idx="18">
    <p:pos x="0" y="0"/>
    <p:text>Diapositiva 18 — Referencias (obligatoria)
Listar las fuentes utilizadas en formato APA u otro indicado por la asignatura, según la facultad.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YI2cI"/>
      </p:ext>
    </p:extLs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09T17:24:32.930" idx="19">
    <p:pos x="6000" y="0"/>
    <p:text>Diapositiva 19 — Cierre (obligatoria)
No requiere edición.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0YI2cM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comments" Target="../comments/commen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chart" Target="../charts/chart1.xml"/><Relationship Id="rId5" Type="http://schemas.openxmlformats.org/officeDocument/2006/relationships/comments" Target="../comments/commen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chart" Target="../charts/chart2.xml"/><Relationship Id="rId5" Type="http://schemas.openxmlformats.org/officeDocument/2006/relationships/comments" Target="../comments/commen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comments" Target="../comments/commen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Relationship Id="rId4" Type="http://schemas.openxmlformats.org/officeDocument/2006/relationships/image" Target="../media/image3.png"/><Relationship Id="rId5" Type="http://schemas.openxmlformats.org/officeDocument/2006/relationships/comments" Target="../comments/commen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comments" Target="../comments/commen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title="Portada imagen presentacion"/>
          <p:cNvPicPr preferRelativeResize="0"/>
          <p:nvPr/>
        </p:nvPicPr>
        <p:blipFill rotWithShape="1">
          <a:blip r:embed="rId3">
            <a:alphaModFix/>
          </a:blip>
          <a:srcRect t="1573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723644" y="0"/>
            <a:ext cx="4182035" cy="6858000"/>
          </a:xfrm>
          <a:prstGeom prst="rect">
            <a:avLst/>
          </a:prstGeom>
          <a:solidFill>
            <a:srgbClr val="28463A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79193" y="3105834"/>
            <a:ext cx="356591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"/>
              <a:buNone/>
            </a:pPr>
            <a:r>
              <a:rPr lang="es-MX" sz="40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del recurso</a:t>
            </a:r>
            <a:endParaRPr sz="40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243" y="371884"/>
            <a:ext cx="1176583" cy="13526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979192" y="4813525"/>
            <a:ext cx="2812879" cy="47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rPr lang="es-MX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Nombre docente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 rot="5400000">
            <a:off x="1874067" y="3632053"/>
            <a:ext cx="45719" cy="18354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79191" y="5525572"/>
            <a:ext cx="2812879" cy="47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rPr lang="es-MX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Facultad: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40110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Contenidos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976407" y="1636761"/>
            <a:ext cx="3285238" cy="330310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84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32000" tIns="864000" rIns="432000" bIns="432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 rot="5400000">
            <a:off x="1946672" y="1673096"/>
            <a:ext cx="1344706" cy="1308145"/>
          </a:xfrm>
          <a:prstGeom prst="flowChartDelay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381555" y="3188605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 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423692" y="1636761"/>
            <a:ext cx="3285238" cy="330310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84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32000" tIns="864000" rIns="432000" bIns="432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828840" y="3188605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 2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7840940" y="1636761"/>
            <a:ext cx="3285238" cy="330310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846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32000" tIns="864000" rIns="432000" bIns="432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8246088" y="3188605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 3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5968" y="1879090"/>
            <a:ext cx="946117" cy="94611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 rot="5400000">
            <a:off x="5393957" y="1673097"/>
            <a:ext cx="1344706" cy="1308145"/>
          </a:xfrm>
          <a:prstGeom prst="flowChartDelay">
            <a:avLst/>
          </a:prstGeom>
          <a:solidFill>
            <a:srgbClr val="B7BF1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7952" y="1854109"/>
            <a:ext cx="946117" cy="94611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 rot="5400000">
            <a:off x="8811205" y="1665721"/>
            <a:ext cx="1344706" cy="1308145"/>
          </a:xfrm>
          <a:prstGeom prst="flowChartDelay">
            <a:avLst/>
          </a:prstGeom>
          <a:solidFill>
            <a:srgbClr val="F1F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75019" y="1935245"/>
            <a:ext cx="853639" cy="85363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1381555" y="3728414"/>
            <a:ext cx="247494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Sdgdsggd fsgsdgdgdg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Sfsfjhskdf sfjshfshfhsjkdf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sjkfhsjkhdgfshfd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828839" y="3728414"/>
            <a:ext cx="247494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Sdgdsggd fsgsdgdgdg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Sfsfjhskdf sfjshfshfhsjkdf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sjkfhsjkhdgfshfd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192436" y="3728414"/>
            <a:ext cx="247494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Sdgdsggd fsgsdgdgdg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Sfsfjhskdf sfjshfshfhsjkdf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sjkfhsjkhdgfshfd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t="7113" b="8524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B8A2">
              <a:alpha val="58823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36176" y="2886336"/>
            <a:ext cx="4572000" cy="2326341"/>
          </a:xfrm>
          <a:prstGeom prst="roundRect">
            <a:avLst>
              <a:gd name="adj" fmla="val 8574"/>
            </a:avLst>
          </a:prstGeom>
          <a:solidFill>
            <a:srgbClr val="FFFFFF">
              <a:alpha val="4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755182" y="3883413"/>
            <a:ext cx="164285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s-MX"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</a:t>
            </a:r>
            <a:endParaRPr sz="4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755183" y="3274015"/>
            <a:ext cx="345820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Portada Tema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 rot="5400000">
            <a:off x="138977" y="3450912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/>
        </p:nvSpPr>
        <p:spPr>
          <a:xfrm>
            <a:off x="40110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4"/>
          <p:cNvGrpSpPr/>
          <p:nvPr/>
        </p:nvGrpSpPr>
        <p:grpSpPr>
          <a:xfrm>
            <a:off x="2573866" y="719666"/>
            <a:ext cx="7044267" cy="5418666"/>
            <a:chOff x="2573866" y="719666"/>
            <a:chExt cx="7044267" cy="5418666"/>
          </a:xfrm>
        </p:grpSpPr>
        <p:sp>
          <p:nvSpPr>
            <p:cNvPr id="138" name="Google Shape;138;p4"/>
            <p:cNvSpPr/>
            <p:nvPr/>
          </p:nvSpPr>
          <p:spPr>
            <a:xfrm>
              <a:off x="6941312" y="4404359"/>
              <a:ext cx="2676821" cy="1733973"/>
            </a:xfrm>
            <a:custGeom>
              <a:avLst/>
              <a:gdLst/>
              <a:ahLst/>
              <a:cxnLst/>
              <a:rect l="l" t="t" r="r" b="b"/>
              <a:pathLst>
                <a:path w="2676821" h="1733973" extrusionOk="0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  <a:solidFill>
              <a:schemeClr val="lt1">
                <a:alpha val="90196"/>
              </a:schemeClr>
            </a:solidFill>
            <a:ln w="12700" cap="flat" cmpd="sng">
              <a:solidFill>
                <a:srgbClr val="C1D5B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001150" tIns="631600" rIns="198100" bIns="198100" anchor="t" anchorCtr="0">
              <a:noAutofit/>
            </a:bodyPr>
            <a:lstStyle/>
            <a:p>
              <a:pPr marL="285750" marR="0" lvl="1" indent="-76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endPara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573866" y="4404359"/>
              <a:ext cx="2676821" cy="1733973"/>
            </a:xfrm>
            <a:custGeom>
              <a:avLst/>
              <a:gdLst/>
              <a:ahLst/>
              <a:cxnLst/>
              <a:rect l="l" t="t" r="r" b="b"/>
              <a:pathLst>
                <a:path w="2676821" h="1733973" extrusionOk="0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  <a:solidFill>
              <a:schemeClr val="lt1">
                <a:alpha val="90196"/>
              </a:schemeClr>
            </a:solidFill>
            <a:ln w="12700" cap="flat" cmpd="sng">
              <a:solidFill>
                <a:srgbClr val="84B56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98100" tIns="631600" rIns="1001150" bIns="198100" anchor="t" anchorCtr="0">
              <a:noAutofit/>
            </a:bodyPr>
            <a:lstStyle/>
            <a:p>
              <a:pPr marL="285750" marR="0" lvl="1" indent="-76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endPara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6941312" y="719666"/>
              <a:ext cx="2676821" cy="1733973"/>
            </a:xfrm>
            <a:custGeom>
              <a:avLst/>
              <a:gdLst/>
              <a:ahLst/>
              <a:cxnLst/>
              <a:rect l="l" t="t" r="r" b="b"/>
              <a:pathLst>
                <a:path w="2676821" h="1733973" extrusionOk="0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  <a:solidFill>
              <a:schemeClr val="lt1">
                <a:alpha val="90196"/>
              </a:schemeClr>
            </a:solidFill>
            <a:ln w="12700" cap="flat" cmpd="sng">
              <a:solidFill>
                <a:srgbClr val="84B56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001150" tIns="198100" rIns="198100" bIns="631600" anchor="t" anchorCtr="0">
              <a:noAutofit/>
            </a:bodyPr>
            <a:lstStyle/>
            <a:p>
              <a:pPr marL="285750" marR="0" lvl="1" indent="-76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endPara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2573866" y="719666"/>
              <a:ext cx="2676821" cy="1733973"/>
            </a:xfrm>
            <a:custGeom>
              <a:avLst/>
              <a:gdLst/>
              <a:ahLst/>
              <a:cxnLst/>
              <a:rect l="l" t="t" r="r" b="b"/>
              <a:pathLst>
                <a:path w="2676821" h="1733973" extrusionOk="0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  <a:solidFill>
              <a:schemeClr val="lt1">
                <a:alpha val="90196"/>
              </a:schemeClr>
            </a:solidFill>
            <a:ln w="12700" cap="flat" cmpd="sng">
              <a:solidFill>
                <a:srgbClr val="517D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98100" tIns="198100" rIns="1001150" bIns="631600" anchor="t" anchorCtr="0">
              <a:noAutofit/>
            </a:bodyPr>
            <a:lstStyle/>
            <a:p>
              <a:pPr marL="285750" marR="0" lvl="1" indent="-76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alibri"/>
                <a:buNone/>
              </a:pPr>
              <a:endPara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3695530" y="1028530"/>
              <a:ext cx="2346282" cy="2346282"/>
            </a:xfrm>
            <a:custGeom>
              <a:avLst/>
              <a:gdLst/>
              <a:ahLst/>
              <a:cxnLst/>
              <a:rect l="l" t="t" r="r" b="b"/>
              <a:pathLst>
                <a:path w="2346282" h="2346282" extrusionOk="0">
                  <a:moveTo>
                    <a:pt x="0" y="2346282"/>
                  </a:moveTo>
                  <a:cubicBezTo>
                    <a:pt x="0" y="1050466"/>
                    <a:pt x="1050466" y="0"/>
                    <a:pt x="2346282" y="0"/>
                  </a:cubicBezTo>
                  <a:lnTo>
                    <a:pt x="2346282" y="2346282"/>
                  </a:lnTo>
                  <a:lnTo>
                    <a:pt x="0" y="2346282"/>
                  </a:lnTo>
                  <a:close/>
                </a:path>
              </a:pathLst>
            </a:custGeom>
            <a:solidFill>
              <a:srgbClr val="517D3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1900" tIns="921900" rIns="234675" bIns="234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6150186" y="1028530"/>
              <a:ext cx="2346282" cy="2346282"/>
            </a:xfrm>
            <a:custGeom>
              <a:avLst/>
              <a:gdLst/>
              <a:ahLst/>
              <a:cxnLst/>
              <a:rect l="l" t="t" r="r" b="b"/>
              <a:pathLst>
                <a:path w="2346282" h="2346282" extrusionOk="0">
                  <a:moveTo>
                    <a:pt x="0" y="0"/>
                  </a:moveTo>
                  <a:cubicBezTo>
                    <a:pt x="1295816" y="0"/>
                    <a:pt x="2346282" y="1050466"/>
                    <a:pt x="2346282" y="2346282"/>
                  </a:cubicBezTo>
                  <a:lnTo>
                    <a:pt x="0" y="23462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6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234675" tIns="921900" rIns="921900" bIns="234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6150186" y="3483185"/>
              <a:ext cx="2346282" cy="2346283"/>
            </a:xfrm>
            <a:custGeom>
              <a:avLst/>
              <a:gdLst/>
              <a:ahLst/>
              <a:cxnLst/>
              <a:rect l="l" t="t" r="r" b="b"/>
              <a:pathLst>
                <a:path w="2346282" h="2346282" extrusionOk="0">
                  <a:moveTo>
                    <a:pt x="2346282" y="0"/>
                  </a:moveTo>
                  <a:cubicBezTo>
                    <a:pt x="2346282" y="1295816"/>
                    <a:pt x="1295816" y="2346282"/>
                    <a:pt x="0" y="2346282"/>
                  </a:cubicBezTo>
                  <a:lnTo>
                    <a:pt x="0" y="0"/>
                  </a:lnTo>
                  <a:lnTo>
                    <a:pt x="2346282" y="0"/>
                  </a:lnTo>
                  <a:close/>
                </a:path>
              </a:pathLst>
            </a:custGeom>
            <a:solidFill>
              <a:srgbClr val="C1D5B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234675" tIns="234675" rIns="921900" bIns="92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3695530" y="3483186"/>
              <a:ext cx="2346282" cy="2346282"/>
            </a:xfrm>
            <a:custGeom>
              <a:avLst/>
              <a:gdLst/>
              <a:ahLst/>
              <a:cxnLst/>
              <a:rect l="l" t="t" r="r" b="b"/>
              <a:pathLst>
                <a:path w="2346282" h="2346282" extrusionOk="0">
                  <a:moveTo>
                    <a:pt x="2346282" y="2346282"/>
                  </a:moveTo>
                  <a:cubicBezTo>
                    <a:pt x="1050466" y="2346282"/>
                    <a:pt x="0" y="1295816"/>
                    <a:pt x="0" y="0"/>
                  </a:cubicBezTo>
                  <a:lnTo>
                    <a:pt x="2346282" y="0"/>
                  </a:lnTo>
                  <a:lnTo>
                    <a:pt x="2346282" y="2346282"/>
                  </a:lnTo>
                  <a:close/>
                </a:path>
              </a:pathLst>
            </a:custGeom>
            <a:solidFill>
              <a:srgbClr val="84B56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1900" tIns="234675" rIns="234675" bIns="92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5690954" y="2941319"/>
              <a:ext cx="810090" cy="70442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C1D7B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 rot="10800000">
              <a:off x="5690954" y="3212252"/>
              <a:ext cx="810090" cy="70442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C1D7B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4"/>
          <p:cNvSpPr txBox="1"/>
          <p:nvPr/>
        </p:nvSpPr>
        <p:spPr>
          <a:xfrm>
            <a:off x="2863484" y="903976"/>
            <a:ext cx="1388199" cy="40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 1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2863484" y="1411941"/>
            <a:ext cx="11840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Sdgdsggd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fsgsdgdgdg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8007769" y="920157"/>
            <a:ext cx="1388199" cy="40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 2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8007769" y="1428122"/>
            <a:ext cx="11840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Sdgdsggd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fsgsdgdgdg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2863484" y="4707047"/>
            <a:ext cx="1388199" cy="40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 3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2863484" y="5215012"/>
            <a:ext cx="11840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Sdgdsggd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fsgsdgdgdg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8261600" y="4710852"/>
            <a:ext cx="1388199" cy="40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 4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8261600" y="5218817"/>
            <a:ext cx="11840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Sdgdsggd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fsgsdgdgdg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869" y="1886235"/>
            <a:ext cx="909436" cy="90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36401" y="1873175"/>
            <a:ext cx="945085" cy="945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8199" y="3984424"/>
            <a:ext cx="972964" cy="972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47800" y="3996991"/>
            <a:ext cx="1053656" cy="1053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5"/>
          <p:cNvPicPr preferRelativeResize="0"/>
          <p:nvPr/>
        </p:nvPicPr>
        <p:blipFill rotWithShape="1">
          <a:blip r:embed="rId3">
            <a:alphaModFix/>
          </a:blip>
          <a:srcRect l="21673" r="21390"/>
          <a:stretch/>
        </p:blipFill>
        <p:spPr>
          <a:xfrm>
            <a:off x="0" y="0"/>
            <a:ext cx="5727000" cy="6707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 txBox="1"/>
          <p:nvPr/>
        </p:nvSpPr>
        <p:spPr>
          <a:xfrm>
            <a:off x="5995305" y="483430"/>
            <a:ext cx="4143777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 rot="5400000">
            <a:off x="5529801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7437511" y="1632116"/>
            <a:ext cx="387291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010464" y="1632116"/>
            <a:ext cx="1143584" cy="1143584"/>
          </a:xfrm>
          <a:prstGeom prst="ellipse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9294" y="1786878"/>
            <a:ext cx="834059" cy="83405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/>
          <p:nvPr/>
        </p:nvSpPr>
        <p:spPr>
          <a:xfrm>
            <a:off x="7437511" y="3053132"/>
            <a:ext cx="387291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010464" y="3053132"/>
            <a:ext cx="1143584" cy="1143584"/>
          </a:xfrm>
          <a:prstGeom prst="ellipse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9294" y="3207894"/>
            <a:ext cx="834059" cy="8340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7437511" y="4524212"/>
            <a:ext cx="387291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010464" y="4524212"/>
            <a:ext cx="1143584" cy="1143584"/>
          </a:xfrm>
          <a:prstGeom prst="ellipse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9294" y="4678974"/>
            <a:ext cx="834059" cy="834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835005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12694" y="1785019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12694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558355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033297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3692203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569892" y="1785019"/>
            <a:ext cx="2190510" cy="573202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569892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3415553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890495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573647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451336" y="1785019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451336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6296997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771939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9382852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260541" y="1785019"/>
            <a:ext cx="2190510" cy="573202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260541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9106202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794878" y="1540577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947127" y="1944846"/>
            <a:ext cx="2207921" cy="2207921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6341" y="2221639"/>
            <a:ext cx="1522066" cy="152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3185501" y="5642319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372400" y="3272975"/>
            <a:ext cx="2248292" cy="2248292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6214128" y="141516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280794" y="1813384"/>
            <a:ext cx="2257040" cy="2257040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9151281" y="5638770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9243431" y="3371986"/>
            <a:ext cx="2154772" cy="2154772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6854" y="3731917"/>
            <a:ext cx="1379383" cy="1379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95612" y="2190447"/>
            <a:ext cx="1497129" cy="149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11961" y="3928426"/>
            <a:ext cx="1141116" cy="114111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/>
          <p:nvPr/>
        </p:nvSpPr>
        <p:spPr>
          <a:xfrm>
            <a:off x="444919" y="3678251"/>
            <a:ext cx="2435867" cy="2435867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702031" y="4203686"/>
            <a:ext cx="192164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565463" y="1162141"/>
            <a:ext cx="2435867" cy="2435867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3822575" y="1687576"/>
            <a:ext cx="192164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9043656" y="1181732"/>
            <a:ext cx="2435867" cy="2435867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9300768" y="1707167"/>
            <a:ext cx="192164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214128" y="3893366"/>
            <a:ext cx="2435867" cy="2435867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6471240" y="4418801"/>
            <a:ext cx="192164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3956" y="147590"/>
            <a:ext cx="836852" cy="96211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786243" y="4068022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63932" y="3264195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63932" y="3891322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521716" y="3334798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3643441" y="4068022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521130" y="3264195"/>
            <a:ext cx="2190510" cy="573202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521130" y="3891322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3366791" y="3334798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6524885" y="4068022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402574" y="3264195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402574" y="3891322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6248235" y="3334798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9334090" y="4068022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9211779" y="3264195"/>
            <a:ext cx="2190510" cy="573202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9211779" y="3891322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9057440" y="3334798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8"/>
          <p:cNvPicPr preferRelativeResize="0"/>
          <p:nvPr/>
        </p:nvPicPr>
        <p:blipFill rotWithShape="1">
          <a:blip r:embed="rId4">
            <a:alphaModFix/>
          </a:blip>
          <a:srcRect l="21673" t="7868" r="21390" b="9944"/>
          <a:stretch/>
        </p:blipFill>
        <p:spPr>
          <a:xfrm>
            <a:off x="675142" y="1107835"/>
            <a:ext cx="2179300" cy="209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4">
            <a:alphaModFix/>
          </a:blip>
          <a:srcRect l="21673" t="7868" r="21390" b="9944"/>
          <a:stretch/>
        </p:blipFill>
        <p:spPr>
          <a:xfrm>
            <a:off x="3513726" y="1093017"/>
            <a:ext cx="2179300" cy="209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4">
            <a:alphaModFix/>
          </a:blip>
          <a:srcRect l="21673" t="7868" r="21390" b="9944"/>
          <a:stretch/>
        </p:blipFill>
        <p:spPr>
          <a:xfrm>
            <a:off x="6396056" y="1093016"/>
            <a:ext cx="2179300" cy="209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4">
            <a:alphaModFix/>
          </a:blip>
          <a:srcRect l="21673" t="7868" r="21390" b="9944"/>
          <a:stretch/>
        </p:blipFill>
        <p:spPr>
          <a:xfrm>
            <a:off x="9204250" y="1093016"/>
            <a:ext cx="2179300" cy="2097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 rot="10800000">
            <a:off x="1323456" y="3106007"/>
            <a:ext cx="2208766" cy="2474122"/>
          </a:xfrm>
          <a:prstGeom prst="round2SameRect">
            <a:avLst>
              <a:gd name="adj1" fmla="val 11188"/>
              <a:gd name="adj2" fmla="val 0"/>
            </a:avLst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332583" y="1312425"/>
            <a:ext cx="2190510" cy="1078103"/>
          </a:xfrm>
          <a:prstGeom prst="round2SameRect">
            <a:avLst>
              <a:gd name="adj1" fmla="val 16667"/>
              <a:gd name="adj2" fmla="val 0"/>
            </a:avLst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1467017" y="3282707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332583" y="2478880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1190367" y="2549483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907" y="1461742"/>
            <a:ext cx="759862" cy="75986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"/>
          <p:cNvSpPr/>
          <p:nvPr/>
        </p:nvSpPr>
        <p:spPr>
          <a:xfrm rot="10800000">
            <a:off x="3665310" y="3106007"/>
            <a:ext cx="2208766" cy="2474122"/>
          </a:xfrm>
          <a:prstGeom prst="round2SameRect">
            <a:avLst>
              <a:gd name="adj1" fmla="val 11188"/>
              <a:gd name="adj2" fmla="val 0"/>
            </a:avLst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674437" y="1312425"/>
            <a:ext cx="2190510" cy="1078103"/>
          </a:xfrm>
          <a:prstGeom prst="round2SameRect">
            <a:avLst>
              <a:gd name="adj1" fmla="val 16667"/>
              <a:gd name="adj2" fmla="val 0"/>
            </a:avLst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3808871" y="3282707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674437" y="2478880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3532221" y="2549483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761" y="1461742"/>
            <a:ext cx="759862" cy="75986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/>
          <p:nvPr/>
        </p:nvSpPr>
        <p:spPr>
          <a:xfrm rot="10800000">
            <a:off x="5998036" y="3106007"/>
            <a:ext cx="2208766" cy="2474122"/>
          </a:xfrm>
          <a:prstGeom prst="round2SameRect">
            <a:avLst>
              <a:gd name="adj1" fmla="val 11188"/>
              <a:gd name="adj2" fmla="val 0"/>
            </a:avLst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6007163" y="1312425"/>
            <a:ext cx="2190510" cy="1078103"/>
          </a:xfrm>
          <a:prstGeom prst="round2SameRect">
            <a:avLst>
              <a:gd name="adj1" fmla="val 16667"/>
              <a:gd name="adj2" fmla="val 0"/>
            </a:avLst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6141597" y="3282707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007163" y="2478880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5864947" y="2549483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22487" y="1461742"/>
            <a:ext cx="759862" cy="75986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/>
          <p:nvPr/>
        </p:nvSpPr>
        <p:spPr>
          <a:xfrm rot="10800000">
            <a:off x="8350009" y="3106007"/>
            <a:ext cx="2208766" cy="2474122"/>
          </a:xfrm>
          <a:prstGeom prst="round2SameRect">
            <a:avLst>
              <a:gd name="adj1" fmla="val 11188"/>
              <a:gd name="adj2" fmla="val 0"/>
            </a:avLst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359136" y="1312425"/>
            <a:ext cx="2190510" cy="1078103"/>
          </a:xfrm>
          <a:prstGeom prst="round2SameRect">
            <a:avLst>
              <a:gd name="adj1" fmla="val 16667"/>
              <a:gd name="adj2" fmla="val 0"/>
            </a:avLst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8493570" y="3282707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8359136" y="2478880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8097092" y="2549483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4460" y="1461742"/>
            <a:ext cx="759862" cy="75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7" name="Google Shape;307;p10"/>
          <p:cNvGraphicFramePr/>
          <p:nvPr/>
        </p:nvGraphicFramePr>
        <p:xfrm>
          <a:off x="868081" y="2554942"/>
          <a:ext cx="7415300" cy="2321750"/>
        </p:xfrm>
        <a:graphic>
          <a:graphicData uri="http://schemas.openxmlformats.org/drawingml/2006/table">
            <a:tbl>
              <a:tblPr firstRow="1" bandRow="1">
                <a:noFill/>
                <a:tableStyleId>{1DD58804-E34B-4606-BDAD-0719976CB149}</a:tableStyleId>
              </a:tblPr>
              <a:tblGrid>
                <a:gridCol w="185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3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Fgsdgdg 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82B8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dfgdhgdh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82B8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dhdhdfh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82B8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dhdfhdfh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82B8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fcvbcbcvb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cbcbcb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fsfsfs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sfsfsf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cbcvbcb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cbcbc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safsfsf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sdfsf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cbcbcvb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cbcbcb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sfsdsfsf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Sfsdf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Jsdfjksdfh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Jkshdjhsdjfh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Isdsdfjs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Hsdfsfsk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Sjhfjksdhfshf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Klsdsdfnsf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Ajdfksdfj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DJFSDFSJK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8" name="Google Shape;308;p10"/>
          <p:cNvSpPr txBox="1"/>
          <p:nvPr/>
        </p:nvSpPr>
        <p:spPr>
          <a:xfrm>
            <a:off x="767768" y="1214041"/>
            <a:ext cx="822831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13355" y="2586318"/>
            <a:ext cx="2380470" cy="238047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 txBox="1"/>
          <p:nvPr/>
        </p:nvSpPr>
        <p:spPr>
          <a:xfrm>
            <a:off x="767769" y="5011176"/>
            <a:ext cx="7313914" cy="28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sjhfjshdfhsdfhksd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767768" y="1214041"/>
            <a:ext cx="822831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2580" y="2730081"/>
            <a:ext cx="2920402" cy="292040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1"/>
          <p:cNvSpPr/>
          <p:nvPr/>
        </p:nvSpPr>
        <p:spPr>
          <a:xfrm>
            <a:off x="4130339" y="2576332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130338" y="3322913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130337" y="406949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130337" y="4815557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5045541" y="2594617"/>
            <a:ext cx="578831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5045541" y="3338064"/>
            <a:ext cx="578831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5045541" y="4094218"/>
            <a:ext cx="578831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5045541" y="4828017"/>
            <a:ext cx="578831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1"/>
          <p:cNvCxnSpPr/>
          <p:nvPr/>
        </p:nvCxnSpPr>
        <p:spPr>
          <a:xfrm>
            <a:off x="5045541" y="3224181"/>
            <a:ext cx="4811153" cy="0"/>
          </a:xfrm>
          <a:prstGeom prst="straightConnector1">
            <a:avLst/>
          </a:prstGeom>
          <a:noFill/>
          <a:ln w="9525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1" name="Google Shape;331;p11"/>
          <p:cNvCxnSpPr/>
          <p:nvPr/>
        </p:nvCxnSpPr>
        <p:spPr>
          <a:xfrm>
            <a:off x="5045541" y="4017075"/>
            <a:ext cx="4811153" cy="0"/>
          </a:xfrm>
          <a:prstGeom prst="straightConnector1">
            <a:avLst/>
          </a:prstGeom>
          <a:noFill/>
          <a:ln w="9525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2" name="Google Shape;332;p11"/>
          <p:cNvCxnSpPr/>
          <p:nvPr/>
        </p:nvCxnSpPr>
        <p:spPr>
          <a:xfrm>
            <a:off x="5045541" y="4788663"/>
            <a:ext cx="4811153" cy="0"/>
          </a:xfrm>
          <a:prstGeom prst="straightConnector1">
            <a:avLst/>
          </a:prstGeom>
          <a:noFill/>
          <a:ln w="9525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131645" y="1312425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1131644" y="243461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131643" y="3556803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1131642" y="4678993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845858" y="935510"/>
            <a:ext cx="6037730" cy="111889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37826" y="71544"/>
                </a:lnTo>
              </a:path>
            </a:pathLst>
          </a:cu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3845858" y="2326558"/>
            <a:ext cx="6037730" cy="111889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39163" y="36931"/>
                </a:lnTo>
              </a:path>
            </a:pathLst>
          </a:cu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3845858" y="3738718"/>
            <a:ext cx="6037730" cy="111889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20268" y="32596"/>
                </a:lnTo>
                <a:lnTo>
                  <a:pt x="-39697" y="18184"/>
                </a:lnTo>
              </a:path>
            </a:pathLst>
          </a:cu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3845858" y="5118118"/>
            <a:ext cx="6037730" cy="111889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39965" y="-7776"/>
                </a:lnTo>
              </a:path>
            </a:pathLst>
          </a:cu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13"/>
          <p:cNvGrpSpPr/>
          <p:nvPr/>
        </p:nvGrpSpPr>
        <p:grpSpPr>
          <a:xfrm>
            <a:off x="3037364" y="373663"/>
            <a:ext cx="5612252" cy="5417597"/>
            <a:chOff x="1257873" y="534"/>
            <a:chExt cx="5612252" cy="5417597"/>
          </a:xfrm>
        </p:grpSpPr>
        <p:sp>
          <p:nvSpPr>
            <p:cNvPr id="360" name="Google Shape;360;p13"/>
            <p:cNvSpPr/>
            <p:nvPr/>
          </p:nvSpPr>
          <p:spPr>
            <a:xfrm>
              <a:off x="3246437" y="534"/>
              <a:ext cx="1635124" cy="1635124"/>
            </a:xfrm>
            <a:prstGeom prst="ellipse">
              <a:avLst/>
            </a:prstGeom>
            <a:solidFill>
              <a:srgbClr val="659C4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3485895" y="239992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 rot="2160000">
              <a:off x="4830234" y="125730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AA4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 txBox="1"/>
            <p:nvPr/>
          </p:nvSpPr>
          <p:spPr>
            <a:xfrm rot="2160000">
              <a:off x="4842728" y="13292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5235001" y="1445310"/>
              <a:ext cx="1635124" cy="1635124"/>
            </a:xfrm>
            <a:prstGeom prst="ellipse">
              <a:avLst/>
            </a:prstGeom>
            <a:solidFill>
              <a:srgbClr val="71B04D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 txBox="1"/>
            <p:nvPr/>
          </p:nvSpPr>
          <p:spPr>
            <a:xfrm>
              <a:off x="5474459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 rot="6480000">
              <a:off x="5458534" y="3144055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6B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 txBox="1"/>
            <p:nvPr/>
          </p:nvSpPr>
          <p:spPr>
            <a:xfrm rot="-4320000">
              <a:off x="5544168" y="3192209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4475437" y="3783007"/>
              <a:ext cx="1635124" cy="1635124"/>
            </a:xfrm>
            <a:prstGeom prst="ellipse">
              <a:avLst/>
            </a:prstGeom>
            <a:solidFill>
              <a:srgbClr val="85B76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 txBox="1"/>
            <p:nvPr/>
          </p:nvSpPr>
          <p:spPr>
            <a:xfrm>
              <a:off x="4714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 rot="10800000">
              <a:off x="3858281" y="432464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7B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 txBox="1"/>
            <p:nvPr/>
          </p:nvSpPr>
          <p:spPr>
            <a:xfrm>
              <a:off x="3989118" y="4435013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017437" y="3783007"/>
              <a:ext cx="1635124" cy="1635124"/>
            </a:xfrm>
            <a:prstGeom prst="ellipse">
              <a:avLst/>
            </a:prstGeom>
            <a:solidFill>
              <a:srgbClr val="97C08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2256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 rot="-6480000">
              <a:off x="2240970" y="3167533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8C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 txBox="1"/>
            <p:nvPr/>
          </p:nvSpPr>
          <p:spPr>
            <a:xfrm rot="4320000">
              <a:off x="2326604" y="33401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257873" y="1445310"/>
              <a:ext cx="1635124" cy="1635124"/>
            </a:xfrm>
            <a:prstGeom prst="ellipse">
              <a:avLst/>
            </a:prstGeom>
            <a:solidFill>
              <a:srgbClr val="ABC99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 txBox="1"/>
            <p:nvPr/>
          </p:nvSpPr>
          <p:spPr>
            <a:xfrm>
              <a:off x="1497331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 rot="-2160000">
              <a:off x="2841670" y="127181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C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 rot="-2160000">
              <a:off x="2854164" y="1420635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3"/>
          <p:cNvSpPr/>
          <p:nvPr/>
        </p:nvSpPr>
        <p:spPr>
          <a:xfrm>
            <a:off x="3511771" y="519973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111974" y="15969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8073763" y="1681579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749838" y="4551885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2700303" y="1940417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974" y="2588266"/>
            <a:ext cx="1390429" cy="1390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7970165" y="393139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3"/>
          <p:cNvCxnSpPr/>
          <p:nvPr/>
        </p:nvCxnSpPr>
        <p:spPr>
          <a:xfrm rot="10800000">
            <a:off x="6669742" y="837367"/>
            <a:ext cx="120629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88" name="Google Shape;388;p13"/>
          <p:cNvSpPr/>
          <p:nvPr/>
        </p:nvSpPr>
        <p:spPr>
          <a:xfrm>
            <a:off x="9413483" y="244073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3"/>
          <p:cNvCxnSpPr/>
          <p:nvPr/>
        </p:nvCxnSpPr>
        <p:spPr>
          <a:xfrm rot="10800000">
            <a:off x="8721612" y="2877671"/>
            <a:ext cx="597742" cy="7291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0" name="Google Shape;390;p13"/>
          <p:cNvSpPr/>
          <p:nvPr/>
        </p:nvSpPr>
        <p:spPr>
          <a:xfrm>
            <a:off x="8613831" y="547851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7876035" y="5505360"/>
            <a:ext cx="582300" cy="3492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2" name="Google Shape;392;p13"/>
          <p:cNvSpPr/>
          <p:nvPr/>
        </p:nvSpPr>
        <p:spPr>
          <a:xfrm>
            <a:off x="308116" y="2588266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3"/>
          <p:cNvCxnSpPr/>
          <p:nvPr/>
        </p:nvCxnSpPr>
        <p:spPr>
          <a:xfrm rot="10800000">
            <a:off x="2613594" y="3005601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4" name="Google Shape;394;p13"/>
          <p:cNvSpPr/>
          <p:nvPr/>
        </p:nvSpPr>
        <p:spPr>
          <a:xfrm>
            <a:off x="669420" y="4576910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3"/>
          <p:cNvCxnSpPr/>
          <p:nvPr/>
        </p:nvCxnSpPr>
        <p:spPr>
          <a:xfrm rot="10800000">
            <a:off x="2974898" y="4994245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4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1221785" y="3708464"/>
            <a:ext cx="1615096" cy="16918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14"/>
          <p:cNvCxnSpPr/>
          <p:nvPr/>
        </p:nvCxnSpPr>
        <p:spPr>
          <a:xfrm rot="10800000">
            <a:off x="1241996" y="3464188"/>
            <a:ext cx="9811486" cy="0"/>
          </a:xfrm>
          <a:prstGeom prst="straightConnector1">
            <a:avLst/>
          </a:prstGeom>
          <a:noFill/>
          <a:ln w="38100" cap="flat" cmpd="sng">
            <a:solidFill>
              <a:srgbClr val="82B8A2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07" name="Google Shape;407;p14"/>
          <p:cNvSpPr/>
          <p:nvPr/>
        </p:nvSpPr>
        <p:spPr>
          <a:xfrm>
            <a:off x="1362619" y="2121722"/>
            <a:ext cx="1205769" cy="120576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14"/>
          <p:cNvCxnSpPr/>
          <p:nvPr/>
        </p:nvCxnSpPr>
        <p:spPr>
          <a:xfrm flipH="1">
            <a:off x="2991701" y="2810193"/>
            <a:ext cx="6993" cy="1307991"/>
          </a:xfrm>
          <a:prstGeom prst="straightConnector1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409" name="Google Shape;409;p14"/>
          <p:cNvSpPr/>
          <p:nvPr/>
        </p:nvSpPr>
        <p:spPr>
          <a:xfrm>
            <a:off x="3422007" y="3708464"/>
            <a:ext cx="1205769" cy="120576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14"/>
          <p:cNvCxnSpPr/>
          <p:nvPr/>
        </p:nvCxnSpPr>
        <p:spPr>
          <a:xfrm flipH="1">
            <a:off x="5404665" y="2810193"/>
            <a:ext cx="6993" cy="1307991"/>
          </a:xfrm>
          <a:prstGeom prst="straightConnector1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oval" w="med" len="med"/>
            <a:tailEnd type="oval" w="med" len="med"/>
          </a:ln>
        </p:spPr>
      </p:cxnSp>
      <p:cxnSp>
        <p:nvCxnSpPr>
          <p:cNvPr id="411" name="Google Shape;411;p14"/>
          <p:cNvCxnSpPr/>
          <p:nvPr/>
        </p:nvCxnSpPr>
        <p:spPr>
          <a:xfrm flipH="1">
            <a:off x="8065724" y="2810193"/>
            <a:ext cx="6993" cy="1307991"/>
          </a:xfrm>
          <a:prstGeom prst="straightConnector1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oval" w="med" len="med"/>
            <a:tailEnd type="oval" w="med" len="med"/>
          </a:ln>
        </p:spPr>
      </p:cxnSp>
      <p:cxnSp>
        <p:nvCxnSpPr>
          <p:cNvPr id="412" name="Google Shape;412;p14"/>
          <p:cNvCxnSpPr/>
          <p:nvPr/>
        </p:nvCxnSpPr>
        <p:spPr>
          <a:xfrm flipH="1">
            <a:off x="10478688" y="2810193"/>
            <a:ext cx="6993" cy="1307991"/>
          </a:xfrm>
          <a:prstGeom prst="straightConnector1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413" name="Google Shape;413;p14"/>
          <p:cNvSpPr/>
          <p:nvPr/>
        </p:nvSpPr>
        <p:spPr>
          <a:xfrm>
            <a:off x="6147739" y="2116967"/>
            <a:ext cx="1205769" cy="120576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8691999" y="3710458"/>
            <a:ext cx="1205769" cy="120576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3172355" y="1630850"/>
            <a:ext cx="1941850" cy="16918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5814233" y="3592791"/>
            <a:ext cx="1941850" cy="16918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8297887" y="1626875"/>
            <a:ext cx="1941850" cy="16918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5"/>
          <p:cNvSpPr txBox="1"/>
          <p:nvPr/>
        </p:nvSpPr>
        <p:spPr>
          <a:xfrm>
            <a:off x="669420" y="474240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5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7" name="Google Shape;427;p15"/>
          <p:cNvGraphicFramePr/>
          <p:nvPr/>
        </p:nvGraphicFramePr>
        <p:xfrm>
          <a:off x="3564962" y="973462"/>
          <a:ext cx="7286813" cy="4481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8" name="Google Shape;428;p15"/>
          <p:cNvSpPr txBox="1"/>
          <p:nvPr/>
        </p:nvSpPr>
        <p:spPr>
          <a:xfrm>
            <a:off x="848451" y="1387721"/>
            <a:ext cx="2096456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6"/>
          <p:cNvSpPr txBox="1"/>
          <p:nvPr/>
        </p:nvSpPr>
        <p:spPr>
          <a:xfrm>
            <a:off x="669420" y="474240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6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848451" y="1387721"/>
            <a:ext cx="2096456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9" name="Google Shape;439;p16"/>
          <p:cNvGraphicFramePr/>
          <p:nvPr/>
        </p:nvGraphicFramePr>
        <p:xfrm>
          <a:off x="3605306" y="1113319"/>
          <a:ext cx="6627906" cy="4148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3504" y="1"/>
            <a:ext cx="122355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7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7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 rot="5400000">
            <a:off x="-224093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1F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771294" y="1113319"/>
            <a:ext cx="4257900" cy="573300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771295" y="1800640"/>
            <a:ext cx="4257905" cy="2211550"/>
          </a:xfrm>
          <a:prstGeom prst="rect">
            <a:avLst/>
          </a:prstGeom>
          <a:solidFill>
            <a:srgbClr val="FFFFFF">
              <a:alpha val="7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 txBox="1"/>
          <p:nvPr/>
        </p:nvSpPr>
        <p:spPr>
          <a:xfrm>
            <a:off x="946088" y="1245675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fsdfsfsf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946088" y="1987306"/>
            <a:ext cx="3908400" cy="18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771295" y="4126309"/>
            <a:ext cx="4257900" cy="2211600"/>
          </a:xfrm>
          <a:prstGeom prst="rect">
            <a:avLst/>
          </a:prstGeom>
          <a:solidFill>
            <a:srgbClr val="FFFFFF">
              <a:alpha val="741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 txBox="1"/>
          <p:nvPr/>
        </p:nvSpPr>
        <p:spPr>
          <a:xfrm>
            <a:off x="946088" y="4312975"/>
            <a:ext cx="3908400" cy="18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8"/>
          <p:cNvPicPr preferRelativeResize="0"/>
          <p:nvPr/>
        </p:nvPicPr>
        <p:blipFill rotWithShape="1">
          <a:blip r:embed="rId3">
            <a:alphaModFix/>
          </a:blip>
          <a:srcRect t="7666" b="8306"/>
          <a:stretch/>
        </p:blipFill>
        <p:spPr>
          <a:xfrm>
            <a:off x="0" y="-1"/>
            <a:ext cx="1222693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8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8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 rot="5400000">
            <a:off x="-224093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1F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771295" y="1279683"/>
            <a:ext cx="4257905" cy="4332841"/>
          </a:xfrm>
          <a:prstGeom prst="rect">
            <a:avLst/>
          </a:prstGeom>
          <a:solidFill>
            <a:srgbClr val="FFFFFF">
              <a:alpha val="7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 txBox="1"/>
          <p:nvPr/>
        </p:nvSpPr>
        <p:spPr>
          <a:xfrm>
            <a:off x="946088" y="1466349"/>
            <a:ext cx="3908318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 txBox="1"/>
          <p:nvPr/>
        </p:nvSpPr>
        <p:spPr>
          <a:xfrm>
            <a:off x="946088" y="3501639"/>
            <a:ext cx="3908318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Ítem: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adipiscing elit. Suspendisse in mi sed velit lacinia vulputate.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9"/>
          <p:cNvSpPr/>
          <p:nvPr/>
        </p:nvSpPr>
        <p:spPr>
          <a:xfrm>
            <a:off x="723644" y="0"/>
            <a:ext cx="4182035" cy="6858000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8543" y="1904383"/>
            <a:ext cx="2652235" cy="3049233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9"/>
          <p:cNvSpPr txBox="1"/>
          <p:nvPr/>
        </p:nvSpPr>
        <p:spPr>
          <a:xfrm>
            <a:off x="5288719" y="4201509"/>
            <a:ext cx="295664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gracias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4905679" y="4953616"/>
            <a:ext cx="7286321" cy="45719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4" name="Google Shape;84;p1" title="Portada imagen presentacion"/>
          <p:cNvPicPr preferRelativeResize="0"/>
          <p:nvPr/>
        </p:nvPicPr>
        <p:blipFill rotWithShape="1">
          <a:blip r:embed="rId3">
            <a:alphaModFix/>
          </a:blip>
          <a:srcRect t="1573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723644" y="0"/>
            <a:ext cx="4182035" cy="6858000"/>
          </a:xfrm>
          <a:prstGeom prst="rect">
            <a:avLst/>
          </a:prstGeom>
          <a:solidFill>
            <a:srgbClr val="28463A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79193" y="3105834"/>
            <a:ext cx="356591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"/>
              <a:buNone/>
            </a:pPr>
            <a:r>
              <a:rPr lang="es-MX" sz="40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Costos y  rentabilidad de sistemas de producción de cultivos anuales</a:t>
            </a:r>
            <a:endParaRPr sz="40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243" y="371884"/>
            <a:ext cx="1176583" cy="13526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979192" y="4813525"/>
            <a:ext cx="2812879" cy="47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rPr lang="es-MX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Katherine Garcia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 rot="5400000">
            <a:off x="1874067" y="3632053"/>
            <a:ext cx="45719" cy="18354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79191" y="5525572"/>
            <a:ext cx="2812879" cy="47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rPr lang="es-MX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Facultad: RRNN y medicina veterinaria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64" name="Google Shape;164;p5"/>
          <p:cNvPicPr preferRelativeResize="0"/>
          <p:nvPr/>
        </p:nvPicPr>
        <p:blipFill rotWithShape="1">
          <a:blip r:embed="rId3">
            <a:alphaModFix/>
          </a:blip>
          <a:srcRect l="21673" r="21390"/>
          <a:stretch/>
        </p:blipFill>
        <p:spPr>
          <a:xfrm>
            <a:off x="0" y="0"/>
            <a:ext cx="5727000" cy="670736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 txBox="1"/>
          <p:nvPr/>
        </p:nvSpPr>
        <p:spPr>
          <a:xfrm>
            <a:off x="5995305" y="483430"/>
            <a:ext cx="4143777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¿Un cultivo con alto rendimiento siempre es mas rentable?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 rot="5400000">
            <a:off x="5529801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7437511" y="1632116"/>
            <a:ext cx="387291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</a:t>
            </a:r>
            <a:b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010464" y="1632116"/>
            <a:ext cx="1143584" cy="1143584"/>
          </a:xfrm>
          <a:prstGeom prst="ellipse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9294" y="1786878"/>
            <a:ext cx="834059" cy="83405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/>
          <p:nvPr/>
        </p:nvSpPr>
        <p:spPr>
          <a:xfrm>
            <a:off x="7437511" y="3053132"/>
            <a:ext cx="387291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Ingresos</a:t>
            </a:r>
            <a:b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010464" y="3053132"/>
            <a:ext cx="1143584" cy="1143584"/>
          </a:xfrm>
          <a:prstGeom prst="ellipse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9294" y="3207894"/>
            <a:ext cx="834059" cy="8340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7437511" y="4524212"/>
            <a:ext cx="387291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Rentabilidad</a:t>
            </a:r>
            <a:br>
              <a:rPr lang="es-MX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010464" y="4524212"/>
            <a:ext cx="1143584" cy="1143584"/>
          </a:xfrm>
          <a:prstGeom prst="ellipse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9294" y="4678974"/>
            <a:ext cx="834059" cy="834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4" name="Google Shape;354;p13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13"/>
          <p:cNvGrpSpPr/>
          <p:nvPr/>
        </p:nvGrpSpPr>
        <p:grpSpPr>
          <a:xfrm>
            <a:off x="3037364" y="373663"/>
            <a:ext cx="5612252" cy="5417597"/>
            <a:chOff x="1257873" y="534"/>
            <a:chExt cx="5612252" cy="5417597"/>
          </a:xfrm>
        </p:grpSpPr>
        <p:sp>
          <p:nvSpPr>
            <p:cNvPr id="360" name="Google Shape;360;p13"/>
            <p:cNvSpPr/>
            <p:nvPr/>
          </p:nvSpPr>
          <p:spPr>
            <a:xfrm>
              <a:off x="3246437" y="534"/>
              <a:ext cx="1635124" cy="1635124"/>
            </a:xfrm>
            <a:prstGeom prst="ellipse">
              <a:avLst/>
            </a:prstGeom>
            <a:solidFill>
              <a:srgbClr val="659C4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3485895" y="239992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 rot="2160000">
              <a:off x="4830234" y="125730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AA4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 txBox="1"/>
            <p:nvPr/>
          </p:nvSpPr>
          <p:spPr>
            <a:xfrm rot="2160000">
              <a:off x="4842728" y="13292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5235001" y="1445310"/>
              <a:ext cx="1635124" cy="1635124"/>
            </a:xfrm>
            <a:prstGeom prst="ellipse">
              <a:avLst/>
            </a:prstGeom>
            <a:solidFill>
              <a:srgbClr val="71B04D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 txBox="1"/>
            <p:nvPr/>
          </p:nvSpPr>
          <p:spPr>
            <a:xfrm>
              <a:off x="5474459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 rot="6480000">
              <a:off x="5458534" y="3144055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6B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 txBox="1"/>
            <p:nvPr/>
          </p:nvSpPr>
          <p:spPr>
            <a:xfrm rot="-4320000">
              <a:off x="5544168" y="3192209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4475437" y="3783007"/>
              <a:ext cx="1635124" cy="1635124"/>
            </a:xfrm>
            <a:prstGeom prst="ellipse">
              <a:avLst/>
            </a:prstGeom>
            <a:solidFill>
              <a:srgbClr val="85B76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 txBox="1"/>
            <p:nvPr/>
          </p:nvSpPr>
          <p:spPr>
            <a:xfrm>
              <a:off x="4714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 rot="10800000">
              <a:off x="3858281" y="432464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7B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 txBox="1"/>
            <p:nvPr/>
          </p:nvSpPr>
          <p:spPr>
            <a:xfrm>
              <a:off x="3989118" y="4435013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017437" y="3783007"/>
              <a:ext cx="1635124" cy="1635124"/>
            </a:xfrm>
            <a:prstGeom prst="ellipse">
              <a:avLst/>
            </a:prstGeom>
            <a:solidFill>
              <a:srgbClr val="97C08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2256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 rot="-6480000">
              <a:off x="2240970" y="3167533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8C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 txBox="1"/>
            <p:nvPr/>
          </p:nvSpPr>
          <p:spPr>
            <a:xfrm rot="4320000">
              <a:off x="2326604" y="33401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257873" y="1445310"/>
              <a:ext cx="1635124" cy="1635124"/>
            </a:xfrm>
            <a:prstGeom prst="ellipse">
              <a:avLst/>
            </a:prstGeom>
            <a:solidFill>
              <a:srgbClr val="ABC99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 txBox="1"/>
            <p:nvPr/>
          </p:nvSpPr>
          <p:spPr>
            <a:xfrm>
              <a:off x="1497331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 rot="-2160000">
              <a:off x="2841670" y="127181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C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 rot="-2160000">
              <a:off x="2854164" y="1420635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3"/>
          <p:cNvSpPr/>
          <p:nvPr/>
        </p:nvSpPr>
        <p:spPr>
          <a:xfrm>
            <a:off x="3511771" y="519973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111974" y="15969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8073763" y="1681579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749838" y="4551885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2700303" y="1940417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974" y="2588266"/>
            <a:ext cx="1390429" cy="1390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7970165" y="393139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Total
Costos Fijos + Costos Variables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3"/>
          <p:cNvCxnSpPr/>
          <p:nvPr/>
        </p:nvCxnSpPr>
        <p:spPr>
          <a:xfrm rot="10800000">
            <a:off x="6669742" y="837367"/>
            <a:ext cx="120629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88" name="Google Shape;388;p13"/>
          <p:cNvSpPr/>
          <p:nvPr/>
        </p:nvSpPr>
        <p:spPr>
          <a:xfrm>
            <a:off x="9413483" y="244073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monetario de todos los recursos utilizados para producir un cultivo.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3"/>
          <p:cNvCxnSpPr/>
          <p:nvPr/>
        </p:nvCxnSpPr>
        <p:spPr>
          <a:xfrm rot="10800000">
            <a:off x="8721612" y="2877671"/>
            <a:ext cx="597742" cy="7291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0" name="Google Shape;390;p13"/>
          <p:cNvSpPr/>
          <p:nvPr/>
        </p:nvSpPr>
        <p:spPr>
          <a:xfrm>
            <a:off x="8613831" y="547851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Cambian según el nivel de producción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7876035" y="5505360"/>
            <a:ext cx="582300" cy="3492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2" name="Google Shape;392;p13"/>
          <p:cNvSpPr/>
          <p:nvPr/>
        </p:nvSpPr>
        <p:spPr>
          <a:xfrm>
            <a:off x="308116" y="2588266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dependen directamente del volumen producido.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3"/>
          <p:cNvCxnSpPr/>
          <p:nvPr/>
        </p:nvCxnSpPr>
        <p:spPr>
          <a:xfrm rot="10800000">
            <a:off x="2613594" y="3005601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4" name="Google Shape;394;p13"/>
          <p:cNvSpPr/>
          <p:nvPr/>
        </p:nvSpPr>
        <p:spPr>
          <a:xfrm>
            <a:off x="669420" y="4576910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directos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3"/>
          <p:cNvCxnSpPr/>
          <p:nvPr/>
        </p:nvCxnSpPr>
        <p:spPr>
          <a:xfrm rot="10800000">
            <a:off x="2974898" y="4994245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3" name="Google Shape;183;p6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¿Serán  similares los costos de la agricultura tradicional con la agroecológica?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835005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el detalle de los costos entre ambos tipos de agricultura para los siguientes cultivos:
Trigo blanco (Región de la Araucanía)
Maíz choclero (Región de O´Higgins)
Poroto (Región del Maule
Tomate al aire libre (Región de O´Higgins)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12694" y="1785019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12694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558355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033297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3692203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569892" y="1785019"/>
            <a:ext cx="2190510" cy="573202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569892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3415553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890495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573647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451336" y="1785019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451336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6296997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771939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9382852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260541" y="1785019"/>
            <a:ext cx="2190510" cy="573202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260541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9106202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4" name="Google Shape;354;p13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13"/>
          <p:cNvGrpSpPr/>
          <p:nvPr/>
        </p:nvGrpSpPr>
        <p:grpSpPr>
          <a:xfrm>
            <a:off x="3037364" y="373663"/>
            <a:ext cx="5612252" cy="5417597"/>
            <a:chOff x="1257873" y="534"/>
            <a:chExt cx="5612252" cy="5417597"/>
          </a:xfrm>
        </p:grpSpPr>
        <p:sp>
          <p:nvSpPr>
            <p:cNvPr id="360" name="Google Shape;360;p13"/>
            <p:cNvSpPr/>
            <p:nvPr/>
          </p:nvSpPr>
          <p:spPr>
            <a:xfrm>
              <a:off x="3246437" y="534"/>
              <a:ext cx="1635124" cy="1635124"/>
            </a:xfrm>
            <a:prstGeom prst="ellipse">
              <a:avLst/>
            </a:prstGeom>
            <a:solidFill>
              <a:srgbClr val="659C4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3485895" y="239992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 rot="2160000">
              <a:off x="4830234" y="125730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AA4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 txBox="1"/>
            <p:nvPr/>
          </p:nvSpPr>
          <p:spPr>
            <a:xfrm rot="2160000">
              <a:off x="4842728" y="13292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5235001" y="1445310"/>
              <a:ext cx="1635124" cy="1635124"/>
            </a:xfrm>
            <a:prstGeom prst="ellipse">
              <a:avLst/>
            </a:prstGeom>
            <a:solidFill>
              <a:srgbClr val="71B04D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 txBox="1"/>
            <p:nvPr/>
          </p:nvSpPr>
          <p:spPr>
            <a:xfrm>
              <a:off x="5474459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 rot="6480000">
              <a:off x="5458534" y="3144055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6B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 txBox="1"/>
            <p:nvPr/>
          </p:nvSpPr>
          <p:spPr>
            <a:xfrm rot="-4320000">
              <a:off x="5544168" y="3192209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4475437" y="3783007"/>
              <a:ext cx="1635124" cy="1635124"/>
            </a:xfrm>
            <a:prstGeom prst="ellipse">
              <a:avLst/>
            </a:prstGeom>
            <a:solidFill>
              <a:srgbClr val="85B76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 txBox="1"/>
            <p:nvPr/>
          </p:nvSpPr>
          <p:spPr>
            <a:xfrm>
              <a:off x="4714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 rot="10800000">
              <a:off x="3858281" y="432464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7B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 txBox="1"/>
            <p:nvPr/>
          </p:nvSpPr>
          <p:spPr>
            <a:xfrm>
              <a:off x="3989118" y="4435013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017437" y="3783007"/>
              <a:ext cx="1635124" cy="1635124"/>
            </a:xfrm>
            <a:prstGeom prst="ellipse">
              <a:avLst/>
            </a:prstGeom>
            <a:solidFill>
              <a:srgbClr val="97C08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2256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 rot="-6480000">
              <a:off x="2240970" y="3167533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8C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 txBox="1"/>
            <p:nvPr/>
          </p:nvSpPr>
          <p:spPr>
            <a:xfrm rot="4320000">
              <a:off x="2326604" y="33401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257873" y="1445310"/>
              <a:ext cx="1635124" cy="1635124"/>
            </a:xfrm>
            <a:prstGeom prst="ellipse">
              <a:avLst/>
            </a:prstGeom>
            <a:solidFill>
              <a:srgbClr val="ABC99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 txBox="1"/>
            <p:nvPr/>
          </p:nvSpPr>
          <p:spPr>
            <a:xfrm>
              <a:off x="1497331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 rot="-2160000">
              <a:off x="2841670" y="127181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C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 rot="-2160000">
              <a:off x="2854164" y="1420635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3"/>
          <p:cNvSpPr/>
          <p:nvPr/>
        </p:nvSpPr>
        <p:spPr>
          <a:xfrm>
            <a:off x="3511771" y="519973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111974" y="15969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8073763" y="1681579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749838" y="4551885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2700303" y="1940417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974" y="2588266"/>
            <a:ext cx="1390429" cy="1390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7970165" y="393139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Ingreso Bruto
Rendimiento x Precio de venta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3"/>
          <p:cNvCxnSpPr/>
          <p:nvPr/>
        </p:nvCxnSpPr>
        <p:spPr>
          <a:xfrm rot="10800000">
            <a:off x="6669742" y="837367"/>
            <a:ext cx="120629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88" name="Google Shape;388;p13"/>
          <p:cNvSpPr/>
          <p:nvPr/>
        </p:nvSpPr>
        <p:spPr>
          <a:xfrm>
            <a:off x="9413483" y="244073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 (qq/Há o Ton/Há)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3"/>
          <p:cNvCxnSpPr/>
          <p:nvPr/>
        </p:nvCxnSpPr>
        <p:spPr>
          <a:xfrm rot="10800000">
            <a:off x="8721612" y="2877671"/>
            <a:ext cx="597742" cy="7291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0" name="Google Shape;390;p13"/>
          <p:cNvSpPr/>
          <p:nvPr/>
        </p:nvSpPr>
        <p:spPr>
          <a:xfrm>
            <a:off x="8613831" y="547851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Precio de mercado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7876035" y="5505360"/>
            <a:ext cx="582300" cy="3492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2" name="Google Shape;392;p13"/>
          <p:cNvSpPr/>
          <p:nvPr/>
        </p:nvSpPr>
        <p:spPr>
          <a:xfrm>
            <a:off x="308116" y="2588266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Calidad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3"/>
          <p:cNvCxnSpPr/>
          <p:nvPr/>
        </p:nvCxnSpPr>
        <p:spPr>
          <a:xfrm rot="10800000">
            <a:off x="2613594" y="3005601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4" name="Google Shape;394;p13"/>
          <p:cNvSpPr/>
          <p:nvPr/>
        </p:nvSpPr>
        <p:spPr>
          <a:xfrm>
            <a:off x="669420" y="4576910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de las que depende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3"/>
          <p:cNvCxnSpPr/>
          <p:nvPr/>
        </p:nvCxnSpPr>
        <p:spPr>
          <a:xfrm rot="10800000">
            <a:off x="2974898" y="4994245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4" name="Google Shape;354;p13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Rentabilidad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13"/>
          <p:cNvGrpSpPr/>
          <p:nvPr/>
        </p:nvGrpSpPr>
        <p:grpSpPr>
          <a:xfrm>
            <a:off x="3037364" y="373663"/>
            <a:ext cx="5612252" cy="5417597"/>
            <a:chOff x="1257873" y="534"/>
            <a:chExt cx="5612252" cy="5417597"/>
          </a:xfrm>
        </p:grpSpPr>
        <p:sp>
          <p:nvSpPr>
            <p:cNvPr id="360" name="Google Shape;360;p13"/>
            <p:cNvSpPr/>
            <p:nvPr/>
          </p:nvSpPr>
          <p:spPr>
            <a:xfrm>
              <a:off x="3246437" y="534"/>
              <a:ext cx="1635124" cy="1635124"/>
            </a:xfrm>
            <a:prstGeom prst="ellipse">
              <a:avLst/>
            </a:prstGeom>
            <a:solidFill>
              <a:srgbClr val="659C4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3485895" y="239992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 rot="2160000">
              <a:off x="4830234" y="125730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AA4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 txBox="1"/>
            <p:nvPr/>
          </p:nvSpPr>
          <p:spPr>
            <a:xfrm rot="2160000">
              <a:off x="4842728" y="13292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5235001" y="1445310"/>
              <a:ext cx="1635124" cy="1635124"/>
            </a:xfrm>
            <a:prstGeom prst="ellipse">
              <a:avLst/>
            </a:prstGeom>
            <a:solidFill>
              <a:srgbClr val="71B04D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 txBox="1"/>
            <p:nvPr/>
          </p:nvSpPr>
          <p:spPr>
            <a:xfrm>
              <a:off x="5474459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 rot="6480000">
              <a:off x="5458534" y="3144055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6B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 txBox="1"/>
            <p:nvPr/>
          </p:nvSpPr>
          <p:spPr>
            <a:xfrm rot="-4320000">
              <a:off x="5544168" y="3192209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4475437" y="3783007"/>
              <a:ext cx="1635124" cy="1635124"/>
            </a:xfrm>
            <a:prstGeom prst="ellipse">
              <a:avLst/>
            </a:prstGeom>
            <a:solidFill>
              <a:srgbClr val="85B76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 txBox="1"/>
            <p:nvPr/>
          </p:nvSpPr>
          <p:spPr>
            <a:xfrm>
              <a:off x="4714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 rot="10800000">
              <a:off x="3858281" y="432464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7B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 txBox="1"/>
            <p:nvPr/>
          </p:nvSpPr>
          <p:spPr>
            <a:xfrm>
              <a:off x="3989118" y="4435013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017437" y="3783007"/>
              <a:ext cx="1635124" cy="1635124"/>
            </a:xfrm>
            <a:prstGeom prst="ellipse">
              <a:avLst/>
            </a:prstGeom>
            <a:solidFill>
              <a:srgbClr val="97C08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2256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 rot="-6480000">
              <a:off x="2240970" y="3167533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8C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 txBox="1"/>
            <p:nvPr/>
          </p:nvSpPr>
          <p:spPr>
            <a:xfrm rot="4320000">
              <a:off x="2326604" y="33401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257873" y="1445310"/>
              <a:ext cx="1635124" cy="1635124"/>
            </a:xfrm>
            <a:prstGeom prst="ellipse">
              <a:avLst/>
            </a:prstGeom>
            <a:solidFill>
              <a:srgbClr val="ABC99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 txBox="1"/>
            <p:nvPr/>
          </p:nvSpPr>
          <p:spPr>
            <a:xfrm>
              <a:off x="1497331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 rot="-2160000">
              <a:off x="2841670" y="127181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C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 rot="-2160000">
              <a:off x="2854164" y="1420635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3"/>
          <p:cNvSpPr/>
          <p:nvPr/>
        </p:nvSpPr>
        <p:spPr>
          <a:xfrm>
            <a:off x="3511771" y="519973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111974" y="15969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8073763" y="1681579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749838" y="4551885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2700303" y="1940417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974" y="2588266"/>
            <a:ext cx="1390429" cy="1390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7970165" y="393139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Utilidad neta
 Ingresos brutos- Costos totales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3"/>
          <p:cNvCxnSpPr/>
          <p:nvPr/>
        </p:nvCxnSpPr>
        <p:spPr>
          <a:xfrm rot="10800000">
            <a:off x="6669742" y="837367"/>
            <a:ext cx="120629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88" name="Google Shape;388;p13"/>
          <p:cNvSpPr/>
          <p:nvPr/>
        </p:nvSpPr>
        <p:spPr>
          <a:xfrm>
            <a:off x="9413483" y="244073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$8.100.000 - $6.254.458 = $1.845.542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3"/>
          <p:cNvCxnSpPr/>
          <p:nvPr/>
        </p:nvCxnSpPr>
        <p:spPr>
          <a:xfrm rot="10800000">
            <a:off x="8721612" y="2877671"/>
            <a:ext cx="597742" cy="7291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0" name="Google Shape;390;p13"/>
          <p:cNvSpPr/>
          <p:nvPr/>
        </p:nvSpPr>
        <p:spPr>
          <a:xfrm>
            <a:off x="8613831" y="547851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del cultivo para generar ganancias.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7876035" y="5505360"/>
            <a:ext cx="582300" cy="3492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2" name="Google Shape;392;p13"/>
          <p:cNvSpPr/>
          <p:nvPr/>
        </p:nvSpPr>
        <p:spPr>
          <a:xfrm>
            <a:off x="308116" y="2588266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Rentabilidad
 (Ingresos brutos- Costos totales)/ Costos totales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3"/>
          <p:cNvCxnSpPr/>
          <p:nvPr/>
        </p:nvCxnSpPr>
        <p:spPr>
          <a:xfrm rot="10800000">
            <a:off x="2613594" y="3005601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4" name="Google Shape;394;p13"/>
          <p:cNvSpPr/>
          <p:nvPr/>
        </p:nvSpPr>
        <p:spPr>
          <a:xfrm>
            <a:off x="669420" y="4576910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($1.845.542/$6.254.458)/100 =
29% de rentabilidad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3"/>
          <p:cNvCxnSpPr/>
          <p:nvPr/>
        </p:nvCxnSpPr>
        <p:spPr>
          <a:xfrm rot="10800000">
            <a:off x="2974898" y="4994245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4" name="Google Shape;354;p13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Factores que afectan la rentabilidad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13"/>
          <p:cNvGrpSpPr/>
          <p:nvPr/>
        </p:nvGrpSpPr>
        <p:grpSpPr>
          <a:xfrm>
            <a:off x="3037364" y="373663"/>
            <a:ext cx="5612252" cy="5417597"/>
            <a:chOff x="1257873" y="534"/>
            <a:chExt cx="5612252" cy="5417597"/>
          </a:xfrm>
        </p:grpSpPr>
        <p:sp>
          <p:nvSpPr>
            <p:cNvPr id="360" name="Google Shape;360;p13"/>
            <p:cNvSpPr/>
            <p:nvPr/>
          </p:nvSpPr>
          <p:spPr>
            <a:xfrm>
              <a:off x="3246437" y="534"/>
              <a:ext cx="1635124" cy="1635124"/>
            </a:xfrm>
            <a:prstGeom prst="ellipse">
              <a:avLst/>
            </a:prstGeom>
            <a:solidFill>
              <a:srgbClr val="659C4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3485895" y="239992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 rot="2160000">
              <a:off x="4830234" y="125730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AA4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 txBox="1"/>
            <p:nvPr/>
          </p:nvSpPr>
          <p:spPr>
            <a:xfrm rot="2160000">
              <a:off x="4842728" y="13292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5235001" y="1445310"/>
              <a:ext cx="1635124" cy="1635124"/>
            </a:xfrm>
            <a:prstGeom prst="ellipse">
              <a:avLst/>
            </a:prstGeom>
            <a:solidFill>
              <a:srgbClr val="71B04D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 txBox="1"/>
            <p:nvPr/>
          </p:nvSpPr>
          <p:spPr>
            <a:xfrm>
              <a:off x="5474459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 rot="6480000">
              <a:off x="5458534" y="3144055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6B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 txBox="1"/>
            <p:nvPr/>
          </p:nvSpPr>
          <p:spPr>
            <a:xfrm rot="-4320000">
              <a:off x="5544168" y="3192209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4475437" y="3783007"/>
              <a:ext cx="1635124" cy="1635124"/>
            </a:xfrm>
            <a:prstGeom prst="ellipse">
              <a:avLst/>
            </a:prstGeom>
            <a:solidFill>
              <a:srgbClr val="85B76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 txBox="1"/>
            <p:nvPr/>
          </p:nvSpPr>
          <p:spPr>
            <a:xfrm>
              <a:off x="4714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 rot="10800000">
              <a:off x="3858281" y="432464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7B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 txBox="1"/>
            <p:nvPr/>
          </p:nvSpPr>
          <p:spPr>
            <a:xfrm>
              <a:off x="3989118" y="4435013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017437" y="3783007"/>
              <a:ext cx="1635124" cy="1635124"/>
            </a:xfrm>
            <a:prstGeom prst="ellipse">
              <a:avLst/>
            </a:prstGeom>
            <a:solidFill>
              <a:srgbClr val="97C08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2256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 rot="-6480000">
              <a:off x="2240970" y="3167533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8C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 txBox="1"/>
            <p:nvPr/>
          </p:nvSpPr>
          <p:spPr>
            <a:xfrm rot="4320000">
              <a:off x="2326604" y="33401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257873" y="1445310"/>
              <a:ext cx="1635124" cy="1635124"/>
            </a:xfrm>
            <a:prstGeom prst="ellipse">
              <a:avLst/>
            </a:prstGeom>
            <a:solidFill>
              <a:srgbClr val="ABC99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 txBox="1"/>
            <p:nvPr/>
          </p:nvSpPr>
          <p:spPr>
            <a:xfrm>
              <a:off x="1497331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 rot="-2160000">
              <a:off x="2841670" y="127181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C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 rot="-2160000">
              <a:off x="2854164" y="1420635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3"/>
          <p:cNvSpPr/>
          <p:nvPr/>
        </p:nvSpPr>
        <p:spPr>
          <a:xfrm>
            <a:off x="3511771" y="519973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111974" y="15969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8073763" y="1681579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749838" y="4551885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2700303" y="1940417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974" y="2588266"/>
            <a:ext cx="1390429" cy="1390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7970165" y="393139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3"/>
          <p:cNvCxnSpPr/>
          <p:nvPr/>
        </p:nvCxnSpPr>
        <p:spPr>
          <a:xfrm rot="10800000">
            <a:off x="6669742" y="837367"/>
            <a:ext cx="120629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88" name="Google Shape;388;p13"/>
          <p:cNvSpPr/>
          <p:nvPr/>
        </p:nvSpPr>
        <p:spPr>
          <a:xfrm>
            <a:off x="9413483" y="244073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3"/>
          <p:cNvCxnSpPr/>
          <p:nvPr/>
        </p:nvCxnSpPr>
        <p:spPr>
          <a:xfrm rot="10800000">
            <a:off x="8721612" y="2877671"/>
            <a:ext cx="597742" cy="7291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0" name="Google Shape;390;p13"/>
          <p:cNvSpPr/>
          <p:nvPr/>
        </p:nvSpPr>
        <p:spPr>
          <a:xfrm>
            <a:off x="8613831" y="547851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7876035" y="5505360"/>
            <a:ext cx="582300" cy="3492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2" name="Google Shape;392;p13"/>
          <p:cNvSpPr/>
          <p:nvPr/>
        </p:nvSpPr>
        <p:spPr>
          <a:xfrm>
            <a:off x="308116" y="2588266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3"/>
          <p:cNvCxnSpPr/>
          <p:nvPr/>
        </p:nvCxnSpPr>
        <p:spPr>
          <a:xfrm rot="10800000">
            <a:off x="2613594" y="3005601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4" name="Google Shape;394;p13"/>
          <p:cNvSpPr/>
          <p:nvPr/>
        </p:nvSpPr>
        <p:spPr>
          <a:xfrm>
            <a:off x="669420" y="4576910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3"/>
          <p:cNvCxnSpPr/>
          <p:nvPr/>
        </p:nvCxnSpPr>
        <p:spPr>
          <a:xfrm rot="10800000">
            <a:off x="2974898" y="4994245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4" name="Google Shape;354;p13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Factores que afectan la rentabilidad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13"/>
          <p:cNvGrpSpPr/>
          <p:nvPr/>
        </p:nvGrpSpPr>
        <p:grpSpPr>
          <a:xfrm>
            <a:off x="3037364" y="373663"/>
            <a:ext cx="5612252" cy="5417597"/>
            <a:chOff x="1257873" y="534"/>
            <a:chExt cx="5612252" cy="5417597"/>
          </a:xfrm>
        </p:grpSpPr>
        <p:sp>
          <p:nvSpPr>
            <p:cNvPr id="360" name="Google Shape;360;p13"/>
            <p:cNvSpPr/>
            <p:nvPr/>
          </p:nvSpPr>
          <p:spPr>
            <a:xfrm>
              <a:off x="3246437" y="534"/>
              <a:ext cx="1635124" cy="1635124"/>
            </a:xfrm>
            <a:prstGeom prst="ellipse">
              <a:avLst/>
            </a:prstGeom>
            <a:solidFill>
              <a:srgbClr val="659C4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 txBox="1"/>
            <p:nvPr/>
          </p:nvSpPr>
          <p:spPr>
            <a:xfrm>
              <a:off x="3485895" y="239992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 rot="2160000">
              <a:off x="4830234" y="125730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AA4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 txBox="1"/>
            <p:nvPr/>
          </p:nvSpPr>
          <p:spPr>
            <a:xfrm rot="2160000">
              <a:off x="4842728" y="13292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5235001" y="1445310"/>
              <a:ext cx="1635124" cy="1635124"/>
            </a:xfrm>
            <a:prstGeom prst="ellipse">
              <a:avLst/>
            </a:prstGeom>
            <a:solidFill>
              <a:srgbClr val="71B04D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 txBox="1"/>
            <p:nvPr/>
          </p:nvSpPr>
          <p:spPr>
            <a:xfrm>
              <a:off x="5474459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 rot="6480000">
              <a:off x="5458534" y="3144055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6B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 txBox="1"/>
            <p:nvPr/>
          </p:nvSpPr>
          <p:spPr>
            <a:xfrm rot="-4320000">
              <a:off x="5544168" y="3192209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4475437" y="3783007"/>
              <a:ext cx="1635124" cy="1635124"/>
            </a:xfrm>
            <a:prstGeom prst="ellipse">
              <a:avLst/>
            </a:prstGeom>
            <a:solidFill>
              <a:srgbClr val="85B76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 txBox="1"/>
            <p:nvPr/>
          </p:nvSpPr>
          <p:spPr>
            <a:xfrm>
              <a:off x="4714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 rot="10800000">
              <a:off x="3858281" y="432464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7B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 txBox="1"/>
            <p:nvPr/>
          </p:nvSpPr>
          <p:spPr>
            <a:xfrm>
              <a:off x="3989118" y="4435013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017437" y="3783007"/>
              <a:ext cx="1635124" cy="1635124"/>
            </a:xfrm>
            <a:prstGeom prst="ellipse">
              <a:avLst/>
            </a:prstGeom>
            <a:solidFill>
              <a:srgbClr val="97C08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2256895" y="4022465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 rot="-6480000">
              <a:off x="2240970" y="3167533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8C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 txBox="1"/>
            <p:nvPr/>
          </p:nvSpPr>
          <p:spPr>
            <a:xfrm rot="4320000">
              <a:off x="2326604" y="3340121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257873" y="1445310"/>
              <a:ext cx="1635124" cy="1635124"/>
            </a:xfrm>
            <a:prstGeom prst="ellipse">
              <a:avLst/>
            </a:prstGeom>
            <a:solidFill>
              <a:srgbClr val="ABC99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 txBox="1"/>
            <p:nvPr/>
          </p:nvSpPr>
          <p:spPr>
            <a:xfrm>
              <a:off x="1497331" y="1684768"/>
              <a:ext cx="1156208" cy="1156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 rot="-2160000">
              <a:off x="2841670" y="1271812"/>
              <a:ext cx="436123" cy="5518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C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 rot="-2160000">
              <a:off x="2854164" y="1420635"/>
              <a:ext cx="305286" cy="331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3"/>
          <p:cNvSpPr/>
          <p:nvPr/>
        </p:nvSpPr>
        <p:spPr>
          <a:xfrm>
            <a:off x="3511771" y="519973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111974" y="159694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8073763" y="1681579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749838" y="4551885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2700303" y="1940417"/>
            <a:ext cx="647849" cy="647849"/>
          </a:xfrm>
          <a:prstGeom prst="ellipse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1974" y="2588266"/>
            <a:ext cx="1390429" cy="1390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7970165" y="393139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3"/>
          <p:cNvCxnSpPr/>
          <p:nvPr/>
        </p:nvCxnSpPr>
        <p:spPr>
          <a:xfrm rot="10800000">
            <a:off x="6669742" y="837367"/>
            <a:ext cx="120629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88" name="Google Shape;388;p13"/>
          <p:cNvSpPr/>
          <p:nvPr/>
        </p:nvSpPr>
        <p:spPr>
          <a:xfrm>
            <a:off x="9413483" y="244073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3"/>
          <p:cNvCxnSpPr/>
          <p:nvPr/>
        </p:nvCxnSpPr>
        <p:spPr>
          <a:xfrm rot="10800000">
            <a:off x="8721612" y="2877671"/>
            <a:ext cx="597742" cy="7291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0" name="Google Shape;390;p13"/>
          <p:cNvSpPr/>
          <p:nvPr/>
        </p:nvSpPr>
        <p:spPr>
          <a:xfrm>
            <a:off x="8613831" y="5478514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7876035" y="5505360"/>
            <a:ext cx="582300" cy="349200"/>
          </a:xfrm>
          <a:prstGeom prst="bentConnector3">
            <a:avLst>
              <a:gd name="adj1" fmla="val 49988"/>
            </a:avLst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2" name="Google Shape;392;p13"/>
          <p:cNvSpPr/>
          <p:nvPr/>
        </p:nvSpPr>
        <p:spPr>
          <a:xfrm>
            <a:off x="308116" y="2588266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13"/>
          <p:cNvCxnSpPr/>
          <p:nvPr/>
        </p:nvCxnSpPr>
        <p:spPr>
          <a:xfrm rot="10800000">
            <a:off x="2613594" y="3005601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94" name="Google Shape;394;p13"/>
          <p:cNvSpPr/>
          <p:nvPr/>
        </p:nvSpPr>
        <p:spPr>
          <a:xfrm>
            <a:off x="669420" y="4576910"/>
            <a:ext cx="2232212" cy="8288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3"/>
          <p:cNvCxnSpPr/>
          <p:nvPr/>
        </p:nvCxnSpPr>
        <p:spPr>
          <a:xfrm rot="10800000">
            <a:off x="2974898" y="4994245"/>
            <a:ext cx="616595" cy="3094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3" name="Google Shape;183;p6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Calcule la rentabilidad del cultivo asignado comparando la rentabilidad
 de un cultivo manejado tradicionalmente vs un cultivo agroecológico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 rot="5400000">
            <a:off x="-197199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835005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los siguientes cultivos:
Trigo blanco (Región de la Araucanía)
Maíz choclero (Región de O´Higgins)
Poroto (Región del Maule
Tomate al aire libre (Región de O´Higgins)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12694" y="1785019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12694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558355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033297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3692203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569892" y="1785019"/>
            <a:ext cx="2190510" cy="573202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569892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3415553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890495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573647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451336" y="1785019"/>
            <a:ext cx="2190510" cy="573202"/>
          </a:xfrm>
          <a:prstGeom prst="rect">
            <a:avLst/>
          </a:prstGeom>
          <a:solidFill>
            <a:srgbClr val="82B8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451336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6296997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771939" y="3233581"/>
            <a:ext cx="382256" cy="54898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9382852" y="2588846"/>
            <a:ext cx="192164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260541" y="1785019"/>
            <a:ext cx="2190510" cy="573202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260541" y="2412146"/>
            <a:ext cx="2190510" cy="2474122"/>
          </a:xfrm>
          <a:prstGeom prst="rect">
            <a:avLst/>
          </a:prstGeom>
          <a:noFill/>
          <a:ln w="12700" cap="flat" cmpd="sng">
            <a:solidFill>
              <a:srgbClr val="82B8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9106202" y="1855622"/>
            <a:ext cx="2474942" cy="49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0" name="Google Shape;460;p18"/>
          <p:cNvPicPr preferRelativeResize="0"/>
          <p:nvPr/>
        </p:nvPicPr>
        <p:blipFill rotWithShape="1">
          <a:blip r:embed="rId3">
            <a:alphaModFix/>
          </a:blip>
          <a:srcRect t="7666" b="8306"/>
          <a:stretch/>
        </p:blipFill>
        <p:spPr>
          <a:xfrm>
            <a:off x="0" y="-1"/>
            <a:ext cx="1222693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8"/>
          <p:cNvSpPr txBox="1"/>
          <p:nvPr/>
        </p:nvSpPr>
        <p:spPr>
          <a:xfrm>
            <a:off x="669420" y="483619"/>
            <a:ext cx="492476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077" y="145719"/>
            <a:ext cx="1014805" cy="11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8"/>
          <p:cNvSpPr/>
          <p:nvPr/>
        </p:nvSpPr>
        <p:spPr>
          <a:xfrm>
            <a:off x="0" y="6694983"/>
            <a:ext cx="4491318" cy="163017"/>
          </a:xfrm>
          <a:prstGeom prst="parallelogram">
            <a:avLst>
              <a:gd name="adj" fmla="val 25000"/>
            </a:avLst>
          </a:prstGeom>
          <a:solidFill>
            <a:srgbClr val="28463A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4603376" y="6694983"/>
            <a:ext cx="7588624" cy="163017"/>
          </a:xfrm>
          <a:prstGeom prst="parallelogram">
            <a:avLst>
              <a:gd name="adj" fmla="val 25000"/>
            </a:avLst>
          </a:prstGeom>
          <a:solidFill>
            <a:srgbClr val="B7BF1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 rot="5400000">
            <a:off x="-224093" y="680818"/>
            <a:ext cx="629700" cy="2353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1F6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771295" y="1279683"/>
            <a:ext cx="4257905" cy="4332841"/>
          </a:xfrm>
          <a:prstGeom prst="rect">
            <a:avLst/>
          </a:prstGeom>
          <a:solidFill>
            <a:srgbClr val="FFFFFF">
              <a:alpha val="7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 txBox="1"/>
          <p:nvPr/>
        </p:nvSpPr>
        <p:spPr>
          <a:xfrm>
            <a:off x="946088" y="1466349"/>
            <a:ext cx="3908318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 txBox="1"/>
          <p:nvPr/>
        </p:nvSpPr>
        <p:spPr>
          <a:xfrm>
            <a:off x="946088" y="3501639"/>
            <a:ext cx="3908318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https://www.indap.gob.cl/fichas-tecnicas
https://www.odepa.gob.cl/seccion-destacados/fichas-de-costos
https://www.chileagricola.cl/ficha-de-costo/</a:t>
            </a:r>
            <a:br>
              <a:rPr lang="es-MX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3" name="Google Shape;473;p19"/>
          <p:cNvSpPr/>
          <p:nvPr/>
        </p:nvSpPr>
        <p:spPr>
          <a:xfrm>
            <a:off x="723644" y="0"/>
            <a:ext cx="4182035" cy="6858000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8543" y="1904383"/>
            <a:ext cx="2652235" cy="3049233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9"/>
          <p:cNvSpPr txBox="1"/>
          <p:nvPr/>
        </p:nvSpPr>
        <p:spPr>
          <a:xfrm>
            <a:off x="5288719" y="4201509"/>
            <a:ext cx="295664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gracias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4905679" y="4953616"/>
            <a:ext cx="7286321" cy="45719"/>
          </a:xfrm>
          <a:prstGeom prst="rect">
            <a:avLst/>
          </a:prstGeom>
          <a:solidFill>
            <a:srgbClr val="2846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Microsoft Office PowerPoint</Application>
  <PresentationFormat>Panorámica</PresentationFormat>
  <Paragraphs>159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Calibri</vt:lpstr>
      <vt:lpstr>Helvetica Neue</vt:lpstr>
      <vt:lpstr>Arial</vt:lpstr>
      <vt:lpstr>Noto Sans Symbols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Cuenta Microsoft</dc:creator>
  <cp:lastModifiedBy>Noelia Escalona</cp:lastModifiedBy>
  <cp:revision>1</cp:revision>
  <dcterms:created xsi:type="dcterms:W3CDTF">2026-03-29T15:07:23Z</dcterms:created>
  <dcterms:modified xsi:type="dcterms:W3CDTF">2026-05-06T14:05:52Z</dcterms:modified>
</cp:coreProperties>
</file>